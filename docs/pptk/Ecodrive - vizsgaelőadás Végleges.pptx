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76" r:id="rId14"/>
    <p:sldId id="277" r:id="rId15"/>
    <p:sldId id="278" r:id="rId16"/>
    <p:sldId id="279" r:id="rId17"/>
    <p:sldId id="280" r:id="rId18"/>
    <p:sldId id="274" r:id="rId19"/>
    <p:sldId id="273" r:id="rId20"/>
    <p:sldId id="267" r:id="rId21"/>
    <p:sldId id="268" r:id="rId22"/>
    <p:sldId id="269" r:id="rId23"/>
    <p:sldId id="270" r:id="rId24"/>
    <p:sldId id="271" r:id="rId25"/>
    <p:sldId id="272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17528520-6B09-4E86-A226-247E9B6CEE45}">
          <p14:sldIdLst>
            <p14:sldId id="256"/>
            <p14:sldId id="257"/>
          </p14:sldIdLst>
        </p14:section>
        <p14:section name="Beni" id="{372DCA84-8797-4ABB-9755-927B4C87D30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Dani" id="{9AC8CC0B-8530-4853-BFDE-22EF0880F23E}">
          <p14:sldIdLst>
            <p14:sldId id="266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Zsigusz" id="{6C07691F-127F-40E0-B2FA-A795FAE4A7E9}">
          <p14:sldIdLst>
            <p14:sldId id="274"/>
            <p14:sldId id="273"/>
            <p14:sldId id="267"/>
            <p14:sldId id="268"/>
            <p14:sldId id="269"/>
            <p14:sldId id="270"/>
            <p14:sldId id="271"/>
            <p14:sldId id="272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9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8726" autoAdjust="0"/>
    <p:restoredTop sz="63847" autoAdjust="0"/>
  </p:normalViewPr>
  <p:slideViewPr>
    <p:cSldViewPr snapToGrid="0">
      <p:cViewPr>
        <p:scale>
          <a:sx n="75" d="100"/>
          <a:sy n="75" d="100"/>
        </p:scale>
        <p:origin x="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72DBF-21C4-47ED-9C03-E665589E41E3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F9A3A-E367-4AC7-BEF5-713747CE6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87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Frontend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UI/UX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felhasználói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felületek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HTML5 + CSS3 + PHP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nézetek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Egységes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design</a:t>
            </a: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Űrlapok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visszajelzések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Könnyű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kezelhetőség</a:t>
            </a:r>
            <a:b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Példák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hu-H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hu-H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ogin</a:t>
            </a:r>
            <a:endParaRPr lang="hu-H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járműkezelés</a:t>
            </a:r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F9A3A-E367-4AC7-BEF5-713747CE69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88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91F2BB-F90F-72AE-C250-DE0F37D57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3AA5780-1F3A-A2EE-2B3A-879B5B99F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9B3AC82-31E0-4A84-909C-971B11B4F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1588-EB46-449A-AAA5-284C469D17CF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BAB93D2-5AAB-3057-E28C-E9E10A45F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6D36A9B-3496-2EE8-29CD-A61253EF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8841-019B-47BF-80CA-7FE4B0FCD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819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ABC947D-C731-1CCD-3AD0-376AD0874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255235-2A74-F223-51DA-54A0BB474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8BFB5CE-4FAB-0984-14D1-9E4BDFDB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1588-EB46-449A-AAA5-284C469D17CF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472F7EF-C93D-8FA1-A198-554EC0161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FDAD819-73F4-E206-7884-391734E59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8841-019B-47BF-80CA-7FE4B0FCD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886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B326402-44E1-6F10-0418-2AE515D0A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4DA3515-9A45-134B-C9C1-92C8DA900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A5EEEBE-A84B-8200-0BA9-E2DE680A8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1588-EB46-449A-AAA5-284C469D17CF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8F61B08-8B95-8B0A-51DC-3A38DA29A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16E4D53-0583-8263-09F1-9225B815B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8841-019B-47BF-80CA-7FE4B0FCD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32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43DD43-761D-B58A-C0DF-220C384BF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C61890-B77F-0263-86E2-206FB497F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05A566C-943B-79FC-E250-386C0A669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1D52770-7AD7-C597-3791-B1F31836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1588-EB46-449A-AAA5-284C469D17CF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2D05772-2D85-CE0C-F4E0-BF9C84FFC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AD1713A-65C4-F987-73BB-2BF2A4915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8841-019B-47BF-80CA-7FE4B0FCD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57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1A06D1-3E84-CAEA-9A5D-53697EFD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DBF0246-9259-EBE5-F6F2-44C67FC7B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170BFF7-A15D-1011-8C85-0DFE428E9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1EC58C7-F5A6-2F1C-C75B-1102EAD33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EC59DF8-CF64-B0AD-C600-69901955A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CE9BE55-AB18-9BCA-E772-58D1528B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1588-EB46-449A-AAA5-284C469D17CF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E6FF4F4B-15C4-B26D-BE6E-AA3DDDC29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ECE7890-FE16-02C5-2C9D-0C4D71075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8841-019B-47BF-80CA-7FE4B0FCD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162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653F7E-5E55-45E0-C96D-FC4F363FA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BFF55A20-5411-645A-4C1D-3265E2161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1588-EB46-449A-AAA5-284C469D17CF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3C47F77-E73C-BC3E-4843-8BCCF12D8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DBACC5A-DD05-2443-AADB-6526B4BD2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8841-019B-47BF-80CA-7FE4B0FCD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586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EC5FCC1-31F7-F98C-9AED-BA23DDB3A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1588-EB46-449A-AAA5-284C469D17CF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923E33F5-921A-6B12-D34E-BB6A5922E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F7944BC-0EAA-A5B2-065A-698D65762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8841-019B-47BF-80CA-7FE4B0FCD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10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F51BD2-D8CC-1287-AA42-EE2095E6D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D6F299F-D76C-A6E5-66CF-EB59C02A0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246CF73-55B2-5E31-363D-5549C1E47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E11DAC3-F42B-6033-A20C-0A001AE72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1588-EB46-449A-AAA5-284C469D17CF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C9A4048-75D2-C182-0803-A233B181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8906943-40C6-A378-D0D1-0529A83A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8841-019B-47BF-80CA-7FE4B0FCD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800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A67DD0-1204-62E4-ADC6-536DB64AE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476474F-7253-3F0A-4249-C1E0BE6FE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D7A84BF-6FCB-8F0D-8E1E-077BF2DC7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63F4289-6D07-9A70-E07A-4226C7E2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1588-EB46-449A-AAA5-284C469D17CF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63A3556-15A6-B8AB-D9E9-E45EBED1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1CF2374-D5CF-9B91-9A6E-6BDA9524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8841-019B-47BF-80CA-7FE4B0FCD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658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D8E18A-812B-7FF1-765E-261996690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FD21CDD-DAF0-EF7C-4D67-FC58400EF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360DDE9-BB82-26A5-D005-802156043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1588-EB46-449A-AAA5-284C469D17CF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35347B2-ADBC-D9D4-9DD1-F7075802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426BF83-DB7B-A744-2C74-9CA3904B6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8841-019B-47BF-80CA-7FE4B0FCD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634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7BB9CBE4-EC95-2DC3-C507-20DF4886C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CEFD1A0-DF93-7CC7-2372-A41A17F16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9705A7F-53B8-242B-0925-0C921F5D2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1588-EB46-449A-AAA5-284C469D17CF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FCD08F9-5639-F60A-49B3-16CFA6262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2070D2-4678-F3FE-D47A-7C3FCD158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68841-019B-47BF-80CA-7FE4B0FCD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53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8B32184D-FB58-F10E-EE4E-CAE9C25CF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6157C50-08DA-5345-380C-CC003DC70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5F212FC-3A7F-08C5-EB3F-84CD14733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51588-EB46-449A-AAA5-284C469D17CF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BF3584E-A780-9296-CE3E-9FE16EE8C3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3496B4E-37AD-0CDE-A4A8-3C6E7F544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68841-019B-47BF-80CA-7FE4B0FCD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03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F502C940-B6F0-EFCC-A97E-3BE3F293A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552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73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8B0D9363-C7CB-CDD6-416E-442530165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716" y="2438126"/>
            <a:ext cx="3051791" cy="4162328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AAE48DCB-8C43-F3D8-D376-8398D44DD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878" y="238811"/>
            <a:ext cx="4280452" cy="2199315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2110E0F-9821-2C9B-699B-DAB1E9608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78" y="12905"/>
            <a:ext cx="10515600" cy="1325563"/>
          </a:xfrm>
        </p:spPr>
        <p:txBody>
          <a:bodyPr/>
          <a:lstStyle/>
          <a:p>
            <a:r>
              <a:rPr lang="hu-HU" noProof="0" dirty="0">
                <a:solidFill>
                  <a:schemeClr val="bg1"/>
                </a:solidFill>
              </a:rPr>
              <a:t>Mi az Ecodrive?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BD7CDF-5981-F292-3D5A-5A59CE2217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269" y="2175838"/>
            <a:ext cx="5015447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hu-HU" sz="2400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sz="2400" noProof="0" dirty="0">
                <a:solidFill>
                  <a:schemeClr val="bg1"/>
                </a:solidFill>
                <a:latin typeface="Arial" panose="020B0604020202020204" pitchFamily="34" charset="0"/>
              </a:rPr>
              <a:t>J</a:t>
            </a:r>
            <a:r>
              <a:rPr kumimoji="0" lang="hu-HU" sz="2400" b="0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árművek és útvonalak kezelése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hu-HU" sz="2400" b="0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CO₂-kibocsátási adatok követése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sz="2400" noProof="0" dirty="0">
                <a:solidFill>
                  <a:schemeClr val="bg1"/>
                </a:solidFill>
                <a:latin typeface="Arial" panose="020B0604020202020204" pitchFamily="34" charset="0"/>
              </a:rPr>
              <a:t>Á</a:t>
            </a:r>
            <a:r>
              <a:rPr kumimoji="0" lang="hu-HU" sz="2400" b="0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ttekinthető statisztikák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sz="2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Környezettudatos közlekedés támogatása</a:t>
            </a:r>
            <a:endParaRPr kumimoji="0" lang="hu-HU" sz="2400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D605BF7C-471A-38E8-1E1C-C64861A6F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528" y="346862"/>
            <a:ext cx="2696084" cy="2250564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09FA2CDC-593C-3399-0B2C-58B79ECD8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4507" y="3849758"/>
            <a:ext cx="4137484" cy="2604924"/>
          </a:xfrm>
          <a:prstGeom prst="rect">
            <a:avLst/>
          </a:prstGeom>
        </p:spPr>
      </p:pic>
      <p:sp>
        <p:nvSpPr>
          <p:cNvPr id="16" name="Szövegdoboz 15">
            <a:extLst>
              <a:ext uri="{FF2B5EF4-FFF2-40B4-BE49-F238E27FC236}">
                <a16:creationId xmlns:a16="http://schemas.microsoft.com/office/drawing/2014/main" id="{427A7404-1F5C-0857-0CBD-478DF4AD6F48}"/>
              </a:ext>
            </a:extLst>
          </p:cNvPr>
          <p:cNvSpPr txBox="1"/>
          <p:nvPr/>
        </p:nvSpPr>
        <p:spPr>
          <a:xfrm>
            <a:off x="0" y="1173229"/>
            <a:ext cx="449662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noProof="0" dirty="0">
                <a:solidFill>
                  <a:schemeClr val="bg1"/>
                </a:solidFill>
                <a:latin typeface="Arial" panose="020B0604020202020204" pitchFamily="34" charset="0"/>
              </a:rPr>
              <a:t>Webes alkalmazás autós felhasználóknak </a:t>
            </a:r>
          </a:p>
          <a:p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563909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096ADF-6581-AF0E-E6C8-083762D54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57" y="302508"/>
            <a:ext cx="10515600" cy="1724932"/>
          </a:xfrm>
        </p:spPr>
        <p:txBody>
          <a:bodyPr>
            <a:normAutofit/>
          </a:bodyPr>
          <a:lstStyle/>
          <a:p>
            <a:r>
              <a:rPr lang="hu-HU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Deák Benedek </a:t>
            </a:r>
            <a:br>
              <a:rPr lang="hu-HU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Saját feladatrészem: Frontend és UI/UX</a:t>
            </a:r>
            <a:br>
              <a:rPr lang="hu-HU" sz="32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u-HU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CAEF715D-DC24-BC59-D471-870DC3136F33}"/>
              </a:ext>
            </a:extLst>
          </p:cNvPr>
          <p:cNvSpPr txBox="1"/>
          <p:nvPr/>
        </p:nvSpPr>
        <p:spPr>
          <a:xfrm>
            <a:off x="233757" y="1518644"/>
            <a:ext cx="5032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felhasználó által látható felületek kialakítása</a:t>
            </a:r>
          </a:p>
          <a:p>
            <a:endParaRPr lang="hu-HU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F9C4700-ECF7-C563-D6D1-9B8442F5F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856" y="4379225"/>
            <a:ext cx="3484987" cy="2360797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1DAC4972-C7A0-AA6E-5C1D-59D2CC898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863" y="1096889"/>
            <a:ext cx="3353814" cy="4522493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18A7BE20-DB53-2C2D-BA01-EE805C861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443" y="1518644"/>
            <a:ext cx="3353815" cy="2915055"/>
          </a:xfrm>
          <a:prstGeom prst="rect">
            <a:avLst/>
          </a:prstGeom>
        </p:spPr>
      </p:pic>
      <p:sp>
        <p:nvSpPr>
          <p:cNvPr id="16" name="Szövegdoboz 15">
            <a:extLst>
              <a:ext uri="{FF2B5EF4-FFF2-40B4-BE49-F238E27FC236}">
                <a16:creationId xmlns:a16="http://schemas.microsoft.com/office/drawing/2014/main" id="{8F669426-8E69-4580-5D35-433941FD4956}"/>
              </a:ext>
            </a:extLst>
          </p:cNvPr>
          <p:cNvSpPr txBox="1"/>
          <p:nvPr/>
        </p:nvSpPr>
        <p:spPr>
          <a:xfrm>
            <a:off x="160282" y="2478775"/>
            <a:ext cx="5032637" cy="2597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 + CSS megjelenítése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PHP-alapú nézetek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Űrlapok és visszajelzések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Egységes felület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418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Tartalom helye 11">
            <a:extLst>
              <a:ext uri="{FF2B5EF4-FFF2-40B4-BE49-F238E27FC236}">
                <a16:creationId xmlns:a16="http://schemas.microsoft.com/office/drawing/2014/main" id="{5931C865-691F-90F4-C28E-58BD5B1208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2180" y="2027440"/>
            <a:ext cx="4367178" cy="3823252"/>
          </a:xfrm>
          <a:prstGeom prst="rect">
            <a:avLst/>
          </a:prstGeom>
        </p:spPr>
      </p:pic>
      <p:sp>
        <p:nvSpPr>
          <p:cNvPr id="6" name="Cím 1">
            <a:extLst>
              <a:ext uri="{FF2B5EF4-FFF2-40B4-BE49-F238E27FC236}">
                <a16:creationId xmlns:a16="http://schemas.microsoft.com/office/drawing/2014/main" id="{58E61DBF-A919-D065-9754-63EFAA5FF238}"/>
              </a:ext>
            </a:extLst>
          </p:cNvPr>
          <p:cNvSpPr txBox="1">
            <a:spLocks/>
          </p:cNvSpPr>
          <p:nvPr/>
        </p:nvSpPr>
        <p:spPr>
          <a:xfrm>
            <a:off x="233757" y="302508"/>
            <a:ext cx="10515600" cy="1724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Bejelentkezési felület</a:t>
            </a:r>
            <a:b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u-H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50CDF586-2EFA-533D-58D3-C0262AE14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58" y="2027440"/>
            <a:ext cx="4631621" cy="3823252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A3C855BC-A158-AEEA-69BD-DC5E13581232}"/>
              </a:ext>
            </a:extLst>
          </p:cNvPr>
          <p:cNvSpPr txBox="1"/>
          <p:nvPr/>
        </p:nvSpPr>
        <p:spPr>
          <a:xfrm>
            <a:off x="3595955" y="1565775"/>
            <a:ext cx="5009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Egyszerű belépési űrlap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A57D9C45-D9B5-16BF-A479-BDA06FB0E7BE}"/>
              </a:ext>
            </a:extLst>
          </p:cNvPr>
          <p:cNvSpPr txBox="1"/>
          <p:nvPr/>
        </p:nvSpPr>
        <p:spPr>
          <a:xfrm>
            <a:off x="1694516" y="5950226"/>
            <a:ext cx="322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Felhasználói név vagy email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AF698A9E-45DF-D412-C68E-F01F7803FB95}"/>
              </a:ext>
            </a:extLst>
          </p:cNvPr>
          <p:cNvSpPr txBox="1"/>
          <p:nvPr/>
        </p:nvSpPr>
        <p:spPr>
          <a:xfrm>
            <a:off x="6991825" y="5950226"/>
            <a:ext cx="322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Hibaüzenet hibás adatoknál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078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4FD031AE-A317-EBEB-956A-85CFE1C8C657}"/>
              </a:ext>
            </a:extLst>
          </p:cNvPr>
          <p:cNvSpPr txBox="1">
            <a:spLocks/>
          </p:cNvSpPr>
          <p:nvPr/>
        </p:nvSpPr>
        <p:spPr>
          <a:xfrm>
            <a:off x="233757" y="302508"/>
            <a:ext cx="10515600" cy="1724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Regisztrációs felület</a:t>
            </a:r>
            <a:b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u-H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9C3A61B3-C974-CF74-2195-7DA2F6599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730" y="1093970"/>
            <a:ext cx="4300539" cy="5229316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511B0071-B719-EB72-682F-0F0AD67FC3B8}"/>
              </a:ext>
            </a:extLst>
          </p:cNvPr>
          <p:cNvSpPr txBox="1"/>
          <p:nvPr/>
        </p:nvSpPr>
        <p:spPr>
          <a:xfrm>
            <a:off x="284922" y="1364974"/>
            <a:ext cx="5360504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Több adat megadása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Logikus mezősorrend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Kötelező mezők jelölése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Hibaüzenetek megjelenítése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Egységes űrlapstílus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A335763B-0CF5-581D-7B22-F53F471AD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295" y="1431324"/>
            <a:ext cx="3440782" cy="455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40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D0E8CD09-B42A-310B-5741-51490E84923F}"/>
              </a:ext>
            </a:extLst>
          </p:cNvPr>
          <p:cNvSpPr txBox="1">
            <a:spLocks/>
          </p:cNvSpPr>
          <p:nvPr/>
        </p:nvSpPr>
        <p:spPr>
          <a:xfrm>
            <a:off x="233757" y="302508"/>
            <a:ext cx="10515600" cy="1724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Profilkezelő felület</a:t>
            </a:r>
            <a:b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u-H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4E80A2D8-64BD-61F7-9C01-EA9D1DAECA51}"/>
              </a:ext>
            </a:extLst>
          </p:cNvPr>
          <p:cNvSpPr txBox="1"/>
          <p:nvPr/>
        </p:nvSpPr>
        <p:spPr>
          <a:xfrm>
            <a:off x="0" y="2257172"/>
            <a:ext cx="3366878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Saját adatok kezelése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Profiladatok módosítása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Jelszó módosítása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Külön kártyás elrendezés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Egységes űrlapstílus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158B2B23-82B0-B566-D11D-CA2A89032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731" y="1616766"/>
            <a:ext cx="8509353" cy="412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69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A2B05DBD-8ED4-78E6-55EE-C6FF38522953}"/>
              </a:ext>
            </a:extLst>
          </p:cNvPr>
          <p:cNvSpPr txBox="1">
            <a:spLocks/>
          </p:cNvSpPr>
          <p:nvPr/>
        </p:nvSpPr>
        <p:spPr>
          <a:xfrm>
            <a:off x="233757" y="302508"/>
            <a:ext cx="10515600" cy="1724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Járműkezelő felület</a:t>
            </a:r>
            <a:b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u-H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C96D674-4EF7-506B-2487-D9FDF779A3CB}"/>
              </a:ext>
            </a:extLst>
          </p:cNvPr>
          <p:cNvSpPr txBox="1"/>
          <p:nvPr/>
        </p:nvSpPr>
        <p:spPr>
          <a:xfrm>
            <a:off x="0" y="2257172"/>
            <a:ext cx="4287078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Saját járművek kezelése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Jármű hozzáadása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Márka, modell, rendszám, évjárat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Fogyasztási és CO₂-adatok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Mentés és törlés műveletek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AC59EC5-5C91-18FD-C50E-854E331237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5100" r="40902"/>
          <a:stretch>
            <a:fillRect/>
          </a:stretch>
        </p:blipFill>
        <p:spPr>
          <a:xfrm>
            <a:off x="4175848" y="1480532"/>
            <a:ext cx="4982228" cy="3889588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21B6159A-D734-7E71-ECB3-5F82DADFC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8076" y="1574874"/>
            <a:ext cx="2866428" cy="370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46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7C591795-3B51-D4D9-F0B2-E0812AD6D6F5}"/>
              </a:ext>
            </a:extLst>
          </p:cNvPr>
          <p:cNvSpPr txBox="1"/>
          <p:nvPr/>
        </p:nvSpPr>
        <p:spPr>
          <a:xfrm>
            <a:off x="-1" y="2257172"/>
            <a:ext cx="4552123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Útvonalbejegyzések kezelése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Jármű és év szerinti szűrés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Indulási és érkezési adatok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Távolság és becsült CO₂-kibocsátás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Bejegyzés hozzáadása és törlése</a:t>
            </a:r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2B402C48-E953-D815-E60C-9C74AE6A793A}"/>
              </a:ext>
            </a:extLst>
          </p:cNvPr>
          <p:cNvSpPr txBox="1">
            <a:spLocks/>
          </p:cNvSpPr>
          <p:nvPr/>
        </p:nvSpPr>
        <p:spPr>
          <a:xfrm>
            <a:off x="233757" y="302508"/>
            <a:ext cx="10515600" cy="1724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Utazási napló felület</a:t>
            </a:r>
            <a:b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u-H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A746B337-983E-525A-579D-7B8DC5C01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959" y="1584935"/>
            <a:ext cx="7629779" cy="368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46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09913A5E-E412-6AAD-0611-65F0A6992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05" y="1706164"/>
            <a:ext cx="7640829" cy="4069080"/>
          </a:xfrm>
          <a:prstGeom prst="rect">
            <a:avLst/>
          </a:prstGeom>
        </p:spPr>
      </p:pic>
      <p:sp>
        <p:nvSpPr>
          <p:cNvPr id="4" name="Cím 1">
            <a:extLst>
              <a:ext uri="{FF2B5EF4-FFF2-40B4-BE49-F238E27FC236}">
                <a16:creationId xmlns:a16="http://schemas.microsoft.com/office/drawing/2014/main" id="{8F084D7D-DE1D-26FC-2790-8BA6D64FCA68}"/>
              </a:ext>
            </a:extLst>
          </p:cNvPr>
          <p:cNvSpPr txBox="1">
            <a:spLocks/>
          </p:cNvSpPr>
          <p:nvPr/>
        </p:nvSpPr>
        <p:spPr>
          <a:xfrm>
            <a:off x="233757" y="302508"/>
            <a:ext cx="10515600" cy="1724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Statisztikai felület</a:t>
            </a:r>
            <a:b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u-H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D572BF1-62EB-9382-E947-5B4F0A81C59E}"/>
              </a:ext>
            </a:extLst>
          </p:cNvPr>
          <p:cNvSpPr txBox="1"/>
          <p:nvPr/>
        </p:nvSpPr>
        <p:spPr>
          <a:xfrm>
            <a:off x="-1" y="2257172"/>
            <a:ext cx="4427907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CO₂-adatok vizuális megjelenítése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Havi és éves összesítés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Diagramok és grafikonok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Kibocsátás megoszlása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Áttekinthető dashboard-elrendezés</a:t>
            </a:r>
          </a:p>
        </p:txBody>
      </p:sp>
    </p:spTree>
    <p:extLst>
      <p:ext uri="{BB962C8B-B14F-4D97-AF65-F5344CB8AC3E}">
        <p14:creationId xmlns:p14="http://schemas.microsoft.com/office/powerpoint/2010/main" val="3455937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A34D86CC-F470-C779-4053-708400D34227}"/>
              </a:ext>
            </a:extLst>
          </p:cNvPr>
          <p:cNvSpPr txBox="1">
            <a:spLocks/>
          </p:cNvSpPr>
          <p:nvPr/>
        </p:nvSpPr>
        <p:spPr>
          <a:xfrm>
            <a:off x="233757" y="302508"/>
            <a:ext cx="10515600" cy="1724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 felület</a:t>
            </a:r>
            <a:br>
              <a:rPr lang="hu-HU" sz="32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u-HU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C8705E5-ED4F-D1A7-BDC4-36B824536EE5}"/>
              </a:ext>
            </a:extLst>
          </p:cNvPr>
          <p:cNvSpPr txBox="1"/>
          <p:nvPr/>
        </p:nvSpPr>
        <p:spPr>
          <a:xfrm>
            <a:off x="0" y="2257172"/>
            <a:ext cx="4220817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Adminisztrációs nézet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Felhasználó-kezelő oldal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Keresőmező és találati kártya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Meglévő HTML/CSS stílus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Egységes arculat 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2127EC2-5175-EEA7-9B72-E8E6551E9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366" y="302508"/>
            <a:ext cx="5963477" cy="2847604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4674636E-75C4-CCDF-56F4-C21FBEE25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366" y="3286458"/>
            <a:ext cx="4922050" cy="335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8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F8840EF3-EA6A-80BB-1019-182DB66EA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377" y="1925953"/>
            <a:ext cx="4699620" cy="3950704"/>
          </a:xfrm>
          <a:prstGeom prst="rect">
            <a:avLst/>
          </a:prstGeom>
        </p:spPr>
      </p:pic>
      <p:sp>
        <p:nvSpPr>
          <p:cNvPr id="4" name="Cím 1">
            <a:extLst>
              <a:ext uri="{FF2B5EF4-FFF2-40B4-BE49-F238E27FC236}">
                <a16:creationId xmlns:a16="http://schemas.microsoft.com/office/drawing/2014/main" id="{06F64711-A99E-7877-3B5E-CE329D193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57" y="302508"/>
            <a:ext cx="10515600" cy="1724932"/>
          </a:xfrm>
        </p:spPr>
        <p:txBody>
          <a:bodyPr>
            <a:normAutofit/>
          </a:bodyPr>
          <a:lstStyle/>
          <a:p>
            <a:r>
              <a:rPr lang="hu-HU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Széplaki Dániel</a:t>
            </a:r>
            <a:br>
              <a:rPr lang="hu-HU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Saját feladatrészem: Adatbázis, DevOps és tesztelés</a:t>
            </a:r>
            <a:br>
              <a:rPr lang="hu-HU" sz="32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u-HU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5725F94F-05EF-05A1-F874-FE0C5B5EFB06}"/>
              </a:ext>
            </a:extLst>
          </p:cNvPr>
          <p:cNvSpPr txBox="1"/>
          <p:nvPr/>
        </p:nvSpPr>
        <p:spPr>
          <a:xfrm>
            <a:off x="233757" y="1518644"/>
            <a:ext cx="5032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projekt technikai alapjainak kialakítása</a:t>
            </a:r>
          </a:p>
          <a:p>
            <a:endParaRPr lang="hu-HU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E5334CC-F4BB-B09A-297E-1FB43D2FB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997" y="922296"/>
            <a:ext cx="3292125" cy="5159187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3FDC97E3-0992-B6E0-2B7D-46B8531374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269" y="2175838"/>
            <a:ext cx="5015447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hu-HU" sz="2400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sz="2400" noProof="0" dirty="0">
                <a:solidFill>
                  <a:schemeClr val="bg1"/>
                </a:solidFill>
                <a:latin typeface="Arial" panose="020B0604020202020204" pitchFamily="34" charset="0"/>
              </a:rPr>
              <a:t>MySQL adatbázis</a:t>
            </a:r>
            <a:endParaRPr kumimoji="0" lang="hu-HU" sz="2400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hu-HU" sz="2400" b="0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Docker fejlesztői környezet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hu-HU" sz="2400" b="0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phpMyAdmin használata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hu-HU" sz="2400" b="0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Konfigurációs fájlok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sz="2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Tesztelési dokumentáció</a:t>
            </a:r>
          </a:p>
        </p:txBody>
      </p:sp>
    </p:spTree>
    <p:extLst>
      <p:ext uri="{BB962C8B-B14F-4D97-AF65-F5344CB8AC3E}">
        <p14:creationId xmlns:p14="http://schemas.microsoft.com/office/powerpoint/2010/main" val="2161590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4CB543-1495-4F4C-4E30-F8DB8101741E}"/>
              </a:ext>
            </a:extLst>
          </p:cNvPr>
          <p:cNvSpPr txBox="1">
            <a:spLocks/>
          </p:cNvSpPr>
          <p:nvPr/>
        </p:nvSpPr>
        <p:spPr>
          <a:xfrm>
            <a:off x="233757" y="302508"/>
            <a:ext cx="10515600" cy="1724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fejlesztő környezet</a:t>
            </a:r>
            <a:br>
              <a:rPr lang="hu-HU" sz="32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u-HU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C2E7631-3FBC-FBDA-A174-D538E79B2330}"/>
              </a:ext>
            </a:extLst>
          </p:cNvPr>
          <p:cNvSpPr txBox="1"/>
          <p:nvPr/>
        </p:nvSpPr>
        <p:spPr>
          <a:xfrm>
            <a:off x="0" y="2027440"/>
            <a:ext cx="4572000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Compose használata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Apache + PHP konténer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 adatbázis-konténer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phpMyAdmin integráció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Port- és volume-beállítások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Automatikus adatbázis inicializálása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E801521-1D8A-9737-D236-051739CC1E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067"/>
          <a:stretch>
            <a:fillRect/>
          </a:stretch>
        </p:blipFill>
        <p:spPr>
          <a:xfrm>
            <a:off x="7558528" y="777726"/>
            <a:ext cx="4286691" cy="5302547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7D454D9-C144-453C-DFA8-84F13D042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116" y="1638981"/>
            <a:ext cx="4091800" cy="2805320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9D6E15C9-6E83-8174-4F80-8129EBB976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27" t="39482" r="4310" b="-1"/>
          <a:stretch>
            <a:fillRect/>
          </a:stretch>
        </p:blipFill>
        <p:spPr>
          <a:xfrm>
            <a:off x="146659" y="5074640"/>
            <a:ext cx="7242913" cy="157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72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Kép 17">
            <a:extLst>
              <a:ext uri="{FF2B5EF4-FFF2-40B4-BE49-F238E27FC236}">
                <a16:creationId xmlns:a16="http://schemas.microsoft.com/office/drawing/2014/main" id="{940DE637-B32E-A1DB-0391-A21476AA93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210"/>
          <a:stretch>
            <a:fillRect/>
          </a:stretch>
        </p:blipFill>
        <p:spPr>
          <a:xfrm>
            <a:off x="3639978" y="3672026"/>
            <a:ext cx="2290887" cy="3054299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58D9EFDC-F6F0-C218-F4E2-75D308AB8646}"/>
              </a:ext>
            </a:extLst>
          </p:cNvPr>
          <p:cNvSpPr txBox="1">
            <a:spLocks/>
          </p:cNvSpPr>
          <p:nvPr/>
        </p:nvSpPr>
        <p:spPr>
          <a:xfrm>
            <a:off x="233757" y="302508"/>
            <a:ext cx="10515600" cy="1724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Adatbázis-tervezés</a:t>
            </a:r>
          </a:p>
          <a:p>
            <a:endParaRPr lang="hu-HU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9C1F14F-70AE-74EB-2D76-32F3CE8F760C}"/>
              </a:ext>
            </a:extLst>
          </p:cNvPr>
          <p:cNvSpPr txBox="1"/>
          <p:nvPr/>
        </p:nvSpPr>
        <p:spPr>
          <a:xfrm>
            <a:off x="0" y="2027440"/>
            <a:ext cx="4572000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Relációs adatbázis használata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Tűblakapcsolatok kialakítása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és foreign key kapcsolatok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Felhasználók, járművek és útvonalak kezelése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ession-alapú hitelesítés</a:t>
            </a:r>
            <a:endParaRPr lang="hu-HU" sz="20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4598D7F-804B-6BD1-03EE-BD82002B5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865" y="896663"/>
            <a:ext cx="6027378" cy="50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108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8909502-2924-01C6-1D96-5B382AE71685}"/>
              </a:ext>
            </a:extLst>
          </p:cNvPr>
          <p:cNvSpPr txBox="1">
            <a:spLocks/>
          </p:cNvSpPr>
          <p:nvPr/>
        </p:nvSpPr>
        <p:spPr>
          <a:xfrm>
            <a:off x="233757" y="302508"/>
            <a:ext cx="10515600" cy="1724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FF573079-146B-B4C7-9D00-842FEEC7CA25}"/>
              </a:ext>
            </a:extLst>
          </p:cNvPr>
          <p:cNvSpPr txBox="1">
            <a:spLocks/>
          </p:cNvSpPr>
          <p:nvPr/>
        </p:nvSpPr>
        <p:spPr>
          <a:xfrm>
            <a:off x="386157" y="454908"/>
            <a:ext cx="10515600" cy="1724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Minőségbiztosítási stratégia</a:t>
            </a:r>
          </a:p>
          <a:p>
            <a:endParaRPr lang="hu-HU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E20FBF4-A4A2-AF1E-9876-E8674AFCA1CB}"/>
              </a:ext>
            </a:extLst>
          </p:cNvPr>
          <p:cNvSpPr txBox="1"/>
          <p:nvPr/>
        </p:nvSpPr>
        <p:spPr>
          <a:xfrm>
            <a:off x="0" y="2027440"/>
            <a:ext cx="4719918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Többszintű tesztelési stratégia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 tesztelési szemlélet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Integrácós tesztelés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End-to-End (E2E) és smoke tesztek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Hibakezelés és validáció ellenőrzése</a:t>
            </a:r>
            <a:endParaRPr lang="hu-HU" sz="20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 előtti smoke ellenőrzések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BB7C8911-0120-13A5-9BCC-5218B5AF7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217" y="1717670"/>
            <a:ext cx="7311026" cy="468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084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40A5D1-0AFD-B8F9-9AD6-AC45EC7D554A}"/>
              </a:ext>
            </a:extLst>
          </p:cNvPr>
          <p:cNvSpPr txBox="1">
            <a:spLocks/>
          </p:cNvSpPr>
          <p:nvPr/>
        </p:nvSpPr>
        <p:spPr>
          <a:xfrm>
            <a:off x="386157" y="454908"/>
            <a:ext cx="10515600" cy="1724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Teszttervezési technikák</a:t>
            </a:r>
          </a:p>
          <a:p>
            <a:endParaRPr lang="hu-HU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C90E984-2F18-17B5-3CAE-BEC29F4D47F5}"/>
              </a:ext>
            </a:extLst>
          </p:cNvPr>
          <p:cNvSpPr txBox="1"/>
          <p:nvPr/>
        </p:nvSpPr>
        <p:spPr>
          <a:xfrm>
            <a:off x="0" y="2027440"/>
            <a:ext cx="4995582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Ekvivalenciaosztályok alkalmazása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Határérték elemzés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Inputvalidáció</a:t>
            </a: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ellenőrzése</a:t>
            </a:r>
            <a:endParaRPr lang="hu-HU" sz="20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Exploratory testing szemlélet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Hibás és szélsőértékű adatok vizsgálata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 válaszkódok ellenőrzése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573C476-DD11-D28B-C399-CD8B5A1C5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3" t="3488" r="3175" b="3156"/>
          <a:stretch>
            <a:fillRect/>
          </a:stretch>
        </p:blipFill>
        <p:spPr>
          <a:xfrm>
            <a:off x="4995582" y="1490681"/>
            <a:ext cx="7125994" cy="469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186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CDD5409E-F1BD-A0AC-1C51-C019E723E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740" y="1886245"/>
            <a:ext cx="5985179" cy="3990119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A59E5E0-B193-E640-26E4-1A3E9DE9973A}"/>
              </a:ext>
            </a:extLst>
          </p:cNvPr>
          <p:cNvSpPr txBox="1">
            <a:spLocks/>
          </p:cNvSpPr>
          <p:nvPr/>
        </p:nvSpPr>
        <p:spPr>
          <a:xfrm>
            <a:off x="386157" y="454908"/>
            <a:ext cx="10515600" cy="1724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Hibakezelés és rendszerstabilitás</a:t>
            </a:r>
          </a:p>
          <a:p>
            <a:endParaRPr lang="hu-HU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2EA4514-B059-7513-5A6F-E13E57CB4865}"/>
              </a:ext>
            </a:extLst>
          </p:cNvPr>
          <p:cNvSpPr txBox="1"/>
          <p:nvPr/>
        </p:nvSpPr>
        <p:spPr>
          <a:xfrm>
            <a:off x="0" y="2027440"/>
            <a:ext cx="3987053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Hibás adatok kezelése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Szerveroldali validáció</a:t>
            </a:r>
            <a:endParaRPr lang="hu-HU" sz="20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 hibakódok használata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injection elleni védelem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 és jogosultságkezelés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 működés biztosítása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A123402A-0542-78BE-BDE5-0D8A1DEDE2A4}"/>
              </a:ext>
            </a:extLst>
          </p:cNvPr>
          <p:cNvSpPr txBox="1"/>
          <p:nvPr/>
        </p:nvSpPr>
        <p:spPr>
          <a:xfrm>
            <a:off x="10576111" y="3036748"/>
            <a:ext cx="1290917" cy="584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F7C04815-9B70-6DC3-7A9A-AF3ED8B01A10}"/>
              </a:ext>
            </a:extLst>
          </p:cNvPr>
          <p:cNvSpPr txBox="1"/>
          <p:nvPr/>
        </p:nvSpPr>
        <p:spPr>
          <a:xfrm>
            <a:off x="10708340" y="2533559"/>
            <a:ext cx="1290917" cy="584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BA8B3058-1668-CFF9-0E9D-C608BE2208CB}"/>
              </a:ext>
            </a:extLst>
          </p:cNvPr>
          <p:cNvSpPr txBox="1"/>
          <p:nvPr/>
        </p:nvSpPr>
        <p:spPr>
          <a:xfrm>
            <a:off x="10642225" y="3539937"/>
            <a:ext cx="1290917" cy="584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C3B5A1DD-8708-2DAD-38E3-67A8A8290228}"/>
              </a:ext>
            </a:extLst>
          </p:cNvPr>
          <p:cNvSpPr txBox="1"/>
          <p:nvPr/>
        </p:nvSpPr>
        <p:spPr>
          <a:xfrm>
            <a:off x="3825685" y="2547157"/>
            <a:ext cx="12909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dirty="0">
                <a:solidFill>
                  <a:schemeClr val="bg1"/>
                </a:solidFill>
              </a:rPr>
              <a:t>Külső API kérések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CB458E3-0E51-1D25-6DDE-E67C2645CEE8}"/>
              </a:ext>
            </a:extLst>
          </p:cNvPr>
          <p:cNvSpPr txBox="1"/>
          <p:nvPr/>
        </p:nvSpPr>
        <p:spPr>
          <a:xfrm>
            <a:off x="3731552" y="3321223"/>
            <a:ext cx="14791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dirty="0">
                <a:solidFill>
                  <a:schemeClr val="bg1"/>
                </a:solidFill>
              </a:rPr>
              <a:t>Frontend alkalmazás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058E47DD-C87E-ABB9-B841-61AA2B5E27F6}"/>
              </a:ext>
            </a:extLst>
          </p:cNvPr>
          <p:cNvSpPr txBox="1"/>
          <p:nvPr/>
        </p:nvSpPr>
        <p:spPr>
          <a:xfrm>
            <a:off x="4229356" y="3946186"/>
            <a:ext cx="9230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dirty="0">
                <a:solidFill>
                  <a:schemeClr val="bg1"/>
                </a:solidFill>
              </a:rPr>
              <a:t>Mobil kliens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4CB05007-D0A2-FB21-C1DE-9BD37B861ABD}"/>
              </a:ext>
            </a:extLst>
          </p:cNvPr>
          <p:cNvSpPr txBox="1"/>
          <p:nvPr/>
        </p:nvSpPr>
        <p:spPr>
          <a:xfrm>
            <a:off x="3758501" y="4598793"/>
            <a:ext cx="14791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dirty="0">
                <a:solidFill>
                  <a:schemeClr val="bg1"/>
                </a:solidFill>
              </a:rPr>
              <a:t>Felhasználói adatok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EE9FCFEE-1BBE-DDC0-5BCE-A2C539B92FED}"/>
              </a:ext>
            </a:extLst>
          </p:cNvPr>
          <p:cNvSpPr txBox="1"/>
          <p:nvPr/>
        </p:nvSpPr>
        <p:spPr>
          <a:xfrm>
            <a:off x="10480847" y="2547157"/>
            <a:ext cx="139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dirty="0">
                <a:solidFill>
                  <a:schemeClr val="bg1"/>
                </a:solidFill>
              </a:rPr>
              <a:t>Sikeres feldolgozás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03DDC1C2-D409-31A5-38BE-9E59E6249016}"/>
              </a:ext>
            </a:extLst>
          </p:cNvPr>
          <p:cNvSpPr txBox="1"/>
          <p:nvPr/>
        </p:nvSpPr>
        <p:spPr>
          <a:xfrm>
            <a:off x="6947761" y="2625389"/>
            <a:ext cx="16165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dirty="0">
                <a:solidFill>
                  <a:schemeClr val="bg1"/>
                </a:solidFill>
              </a:rPr>
              <a:t>Szerveroldali validáció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84E7891E-A69A-5DA1-9D57-9FCF5525C259}"/>
              </a:ext>
            </a:extLst>
          </p:cNvPr>
          <p:cNvSpPr txBox="1"/>
          <p:nvPr/>
        </p:nvSpPr>
        <p:spPr>
          <a:xfrm>
            <a:off x="10509997" y="3157538"/>
            <a:ext cx="1619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dirty="0">
                <a:solidFill>
                  <a:schemeClr val="bg1"/>
                </a:solidFill>
              </a:rPr>
              <a:t>Hitelesített felhasználó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5D09440F-991F-9BF0-4760-635E172F7A68}"/>
              </a:ext>
            </a:extLst>
          </p:cNvPr>
          <p:cNvSpPr txBox="1"/>
          <p:nvPr/>
        </p:nvSpPr>
        <p:spPr>
          <a:xfrm>
            <a:off x="10534753" y="3776371"/>
            <a:ext cx="12909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dirty="0">
                <a:solidFill>
                  <a:schemeClr val="bg1"/>
                </a:solidFill>
              </a:rPr>
              <a:t>Érvénytelen kérés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0B848AB5-8E16-292F-DF3E-657E517E30E1}"/>
              </a:ext>
            </a:extLst>
          </p:cNvPr>
          <p:cNvSpPr txBox="1"/>
          <p:nvPr/>
        </p:nvSpPr>
        <p:spPr>
          <a:xfrm>
            <a:off x="10576108" y="4360566"/>
            <a:ext cx="1553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dirty="0">
                <a:solidFill>
                  <a:schemeClr val="bg1"/>
                </a:solidFill>
              </a:rPr>
              <a:t>Kérés blokkolása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5149B6D8-4D0C-668A-766E-8B0289289F5B}"/>
              </a:ext>
            </a:extLst>
          </p:cNvPr>
          <p:cNvSpPr txBox="1"/>
          <p:nvPr/>
        </p:nvSpPr>
        <p:spPr>
          <a:xfrm>
            <a:off x="10576109" y="4832760"/>
            <a:ext cx="12909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dirty="0">
                <a:solidFill>
                  <a:schemeClr val="bg1"/>
                </a:solidFill>
              </a:rPr>
              <a:t>Rendszerfigyelés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598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D1003-D893-75AE-AE4D-0BC6F7123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E474C47E-5089-60C6-BBFF-BF9A464AE4D7}"/>
              </a:ext>
            </a:extLst>
          </p:cNvPr>
          <p:cNvSpPr txBox="1"/>
          <p:nvPr/>
        </p:nvSpPr>
        <p:spPr>
          <a:xfrm>
            <a:off x="0" y="2027440"/>
            <a:ext cx="4995582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alapú verziókezelés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 alapú fejlesztési modell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Funkciónként elkülönített fejlesztés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 előtti tesztelés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környezetben történő futtatás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Csapaton belüli együttműködés</a:t>
            </a: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886C115C-59B2-1CA7-9090-BFA42AC20C3B}"/>
              </a:ext>
            </a:extLst>
          </p:cNvPr>
          <p:cNvSpPr txBox="1">
            <a:spLocks/>
          </p:cNvSpPr>
          <p:nvPr/>
        </p:nvSpPr>
        <p:spPr>
          <a:xfrm>
            <a:off x="386157" y="454908"/>
            <a:ext cx="10515600" cy="1724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Fejlesztési workflow és verziókezelés</a:t>
            </a:r>
          </a:p>
          <a:p>
            <a:endParaRPr lang="hu-HU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0E87723-B64D-10FA-9EC9-E768436F3F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81" r="9258"/>
          <a:stretch>
            <a:fillRect/>
          </a:stretch>
        </p:blipFill>
        <p:spPr>
          <a:xfrm>
            <a:off x="4633450" y="1572113"/>
            <a:ext cx="2925099" cy="322968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49E87E1-D63B-AA30-BE13-A0F582DEA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085" y="3186953"/>
            <a:ext cx="4644258" cy="357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397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BC38E-4022-EF92-B6AD-DD3D2AB15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709BAC-844D-C9CE-4F11-9035754E3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57" y="302508"/>
            <a:ext cx="10515600" cy="1724932"/>
          </a:xfrm>
        </p:spPr>
        <p:txBody>
          <a:bodyPr>
            <a:normAutofit/>
          </a:bodyPr>
          <a:lstStyle/>
          <a:p>
            <a:r>
              <a:rPr lang="hu-HU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Szabó Zsigmond Károly</a:t>
            </a:r>
            <a:br>
              <a:rPr lang="hu-HU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Saját feladatrészem: 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 kialakítása</a:t>
            </a:r>
            <a:br>
              <a:rPr lang="hu-HU" sz="32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u-HU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82B9202F-A3EA-916B-F791-8D13ECA117D1}"/>
              </a:ext>
            </a:extLst>
          </p:cNvPr>
          <p:cNvSpPr txBox="1"/>
          <p:nvPr/>
        </p:nvSpPr>
        <p:spPr>
          <a:xfrm>
            <a:off x="160282" y="2478775"/>
            <a:ext cx="7218926" cy="195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Architektúra megtervezése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 és backend összekapcsolása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Felhasználói műveletek megvalósítása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2185AD3-C0C0-8DB6-AC3E-8DC02AF44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757" y="302508"/>
            <a:ext cx="4780430" cy="318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509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3F854-478E-A3DC-D6CE-D762D8E5D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D20B90-59F1-A393-193A-48A976B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Architektúra - kérelemkezelés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E715A0F-87E8-D8C0-F213-30958FB05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Minden kérelmet egy központi fájl kezel</a:t>
            </a:r>
          </a:p>
          <a:p>
            <a:r>
              <a:rPr lang="hu-HU" dirty="0">
                <a:solidFill>
                  <a:schemeClr val="bg1"/>
                </a:solidFill>
              </a:rPr>
              <a:t>Külső konfigurációs fájl (.env)</a:t>
            </a:r>
          </a:p>
          <a:p>
            <a:r>
              <a:rPr lang="hu-HU" dirty="0">
                <a:solidFill>
                  <a:schemeClr val="bg1"/>
                </a:solidFill>
              </a:rPr>
              <a:t>Hiba esetén 500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2A53E95B-E52D-179E-8966-06FD3011DD51}"/>
              </a:ext>
            </a:extLst>
          </p:cNvPr>
          <p:cNvSpPr/>
          <p:nvPr/>
        </p:nvSpPr>
        <p:spPr>
          <a:xfrm>
            <a:off x="838200" y="3567065"/>
            <a:ext cx="1905000" cy="102304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8075A3A0-2F37-3C77-EE82-7584471B2760}"/>
              </a:ext>
            </a:extLst>
          </p:cNvPr>
          <p:cNvSpPr txBox="1"/>
          <p:nvPr/>
        </p:nvSpPr>
        <p:spPr>
          <a:xfrm>
            <a:off x="907533" y="3755418"/>
            <a:ext cx="1819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Beérkező kérelem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E859D4A8-4C4B-9BEF-FB2C-B330DA328490}"/>
              </a:ext>
            </a:extLst>
          </p:cNvPr>
          <p:cNvSpPr/>
          <p:nvPr/>
        </p:nvSpPr>
        <p:spPr>
          <a:xfrm>
            <a:off x="3462196" y="3567065"/>
            <a:ext cx="1905000" cy="102304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53434C7E-52DA-D09A-24A2-44B712613501}"/>
              </a:ext>
            </a:extLst>
          </p:cNvPr>
          <p:cNvSpPr txBox="1"/>
          <p:nvPr/>
        </p:nvSpPr>
        <p:spPr>
          <a:xfrm>
            <a:off x="3531529" y="3755418"/>
            <a:ext cx="1819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Beállítások betöltése</a:t>
            </a:r>
          </a:p>
        </p:txBody>
      </p: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2BB4BB48-8474-C833-49EB-2D5A6FD58665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2743200" y="4078586"/>
            <a:ext cx="71899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Kép 5">
            <a:extLst>
              <a:ext uri="{FF2B5EF4-FFF2-40B4-BE49-F238E27FC236}">
                <a16:creationId xmlns:a16="http://schemas.microsoft.com/office/drawing/2014/main" id="{252EBDA4-4793-058A-35A2-F34AB40B4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764" y="3429000"/>
            <a:ext cx="6040016" cy="3022800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55723700-B11B-827A-A66A-4B5678022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774" y="1553740"/>
            <a:ext cx="4525006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566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08AC-3DA1-36C1-F0C4-FFAB273D1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F8D99A-6FE7-370E-67E2-E94B7847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Architektúra - kérelemkezelés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D7302D3-1A47-C71D-2CE7-6C8A5C953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Végpontok regisztrálása</a:t>
            </a:r>
          </a:p>
          <a:p>
            <a:r>
              <a:rPr lang="hu-HU" dirty="0">
                <a:solidFill>
                  <a:schemeClr val="bg1"/>
                </a:solidFill>
              </a:rPr>
              <a:t>Megfelelő végpont hívása</a:t>
            </a:r>
          </a:p>
          <a:p>
            <a:r>
              <a:rPr lang="hu-HU" dirty="0">
                <a:solidFill>
                  <a:schemeClr val="bg1"/>
                </a:solidFill>
              </a:rPr>
              <a:t>Ha nincs végpont, 404 vagy 405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01B289B6-FEF7-3243-B8AF-DF1CFC0134B2}"/>
              </a:ext>
            </a:extLst>
          </p:cNvPr>
          <p:cNvSpPr/>
          <p:nvPr/>
        </p:nvSpPr>
        <p:spPr>
          <a:xfrm>
            <a:off x="988071" y="3751758"/>
            <a:ext cx="1905000" cy="102304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170A3CA1-50ED-900C-6E44-596A7FA1A6CA}"/>
              </a:ext>
            </a:extLst>
          </p:cNvPr>
          <p:cNvSpPr txBox="1"/>
          <p:nvPr/>
        </p:nvSpPr>
        <p:spPr>
          <a:xfrm>
            <a:off x="1057404" y="3940111"/>
            <a:ext cx="1819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Beállítások betöltése</a:t>
            </a:r>
          </a:p>
        </p:txBody>
      </p:sp>
      <p:cxnSp>
        <p:nvCxnSpPr>
          <p:cNvPr id="5" name="Egyenes összekötő nyíllal 4">
            <a:extLst>
              <a:ext uri="{FF2B5EF4-FFF2-40B4-BE49-F238E27FC236}">
                <a16:creationId xmlns:a16="http://schemas.microsoft.com/office/drawing/2014/main" id="{36324C82-D8A6-0147-772F-549050B162DA}"/>
              </a:ext>
            </a:extLst>
          </p:cNvPr>
          <p:cNvCxnSpPr>
            <a:cxnSpLocks/>
          </p:cNvCxnSpPr>
          <p:nvPr/>
        </p:nvCxnSpPr>
        <p:spPr>
          <a:xfrm>
            <a:off x="2914384" y="4263279"/>
            <a:ext cx="71899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77F55067-0DAF-4C61-9A9E-28A61E3DED82}"/>
              </a:ext>
            </a:extLst>
          </p:cNvPr>
          <p:cNvSpPr/>
          <p:nvPr/>
        </p:nvSpPr>
        <p:spPr>
          <a:xfrm>
            <a:off x="3633380" y="3751758"/>
            <a:ext cx="1905000" cy="102303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26034699-1626-D98A-5AF7-DB779DF4D377}"/>
              </a:ext>
            </a:extLst>
          </p:cNvPr>
          <p:cNvSpPr txBox="1"/>
          <p:nvPr/>
        </p:nvSpPr>
        <p:spPr>
          <a:xfrm>
            <a:off x="3676007" y="3873928"/>
            <a:ext cx="1819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Végpont kiválasztása</a:t>
            </a: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7D8BF036-6D67-D06C-3467-4046A71C2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195" y="3080152"/>
            <a:ext cx="5087060" cy="1343212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F26875B4-7E49-2130-4AD2-FFA536A84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195" y="4586442"/>
            <a:ext cx="3686156" cy="1972616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89E5DB83-E9D0-4FA8-7F07-5BDC0AA5D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903" y="1612190"/>
            <a:ext cx="6622352" cy="94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99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F4E74-BDB3-5E36-9D8F-E074E4EB1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87EFF07-2697-0179-2ADC-C677DDD12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Architektúra - nézetek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9B1FD9-3F74-11D1-4C79-E2E7DA58A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MVC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4F55F122-B111-5B2E-8562-0F96AD0D3EAC}"/>
              </a:ext>
            </a:extLst>
          </p:cNvPr>
          <p:cNvSpPr/>
          <p:nvPr/>
        </p:nvSpPr>
        <p:spPr>
          <a:xfrm>
            <a:off x="838200" y="2995109"/>
            <a:ext cx="2955202" cy="29620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A7A80453-CF45-D9AD-7427-67A5B99809B4}"/>
              </a:ext>
            </a:extLst>
          </p:cNvPr>
          <p:cNvSpPr/>
          <p:nvPr/>
        </p:nvSpPr>
        <p:spPr>
          <a:xfrm>
            <a:off x="1474236" y="3898947"/>
            <a:ext cx="1683129" cy="168704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D46234FC-8DAE-1E0E-0773-7E596536C7F8}"/>
              </a:ext>
            </a:extLst>
          </p:cNvPr>
          <p:cNvSpPr txBox="1"/>
          <p:nvPr/>
        </p:nvSpPr>
        <p:spPr>
          <a:xfrm>
            <a:off x="1689554" y="4448416"/>
            <a:ext cx="1370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Admin.php tartalma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802E3FDD-C2AA-32CB-6503-1DFF2A8882B1}"/>
              </a:ext>
            </a:extLst>
          </p:cNvPr>
          <p:cNvSpPr txBox="1"/>
          <p:nvPr/>
        </p:nvSpPr>
        <p:spPr>
          <a:xfrm>
            <a:off x="1435892" y="3223040"/>
            <a:ext cx="1759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Layout.php</a:t>
            </a: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02C8ED5D-AB03-AA78-BD7C-DFB98A0FF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131" y="3399255"/>
            <a:ext cx="2962688" cy="1343212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0DA7ADF0-2DD0-A92A-210B-021E6B336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786" y="852522"/>
            <a:ext cx="4151263" cy="2142587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245FAFD0-02F1-37CD-6707-7390E2A35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597" y="5063951"/>
            <a:ext cx="7316221" cy="1247949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259EB94A-971B-B0B3-B38B-DE1D43AE23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2295" y="3412751"/>
            <a:ext cx="3788817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82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97030-D332-6982-8358-C55430326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F8BD2E-4CEB-07D0-9B6B-FE13C98C9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Architektúra - adatmodell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65F4F25-4901-F163-D352-5ED24E16E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Objektumorientált</a:t>
            </a:r>
          </a:p>
          <a:p>
            <a:r>
              <a:rPr lang="hu-HU" dirty="0">
                <a:solidFill>
                  <a:schemeClr val="bg1"/>
                </a:solidFill>
              </a:rPr>
              <a:t>Rekordokat tükröznek</a:t>
            </a:r>
          </a:p>
          <a:p>
            <a:r>
              <a:rPr lang="hu-HU" dirty="0">
                <a:solidFill>
                  <a:schemeClr val="bg1"/>
                </a:solidFill>
              </a:rPr>
              <a:t>CRUD műveletek</a:t>
            </a:r>
          </a:p>
          <a:p>
            <a:r>
              <a:rPr lang="hu-HU" dirty="0">
                <a:solidFill>
                  <a:schemeClr val="bg1"/>
                </a:solidFill>
              </a:rPr>
              <a:t>Egy modell/tábla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C60B0F3-2E6B-E8CF-48D6-758CA50C0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52" y="4087367"/>
            <a:ext cx="6358439" cy="2348923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4FA5F432-CF10-D6F5-D762-C70D441AB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285" y="758952"/>
            <a:ext cx="5133206" cy="2931726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F8DAB846-5A1C-0117-D265-6F7C30D16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84" y="4087367"/>
            <a:ext cx="4737998" cy="234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48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9F9A-B686-ED70-2504-38E545955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5D2C4C-861E-9CB0-FB19-3859F4D9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Architektúra - munkamenet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8AB73C-8E03-EB90-8F9E-F643F1207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Adatbázis alapú</a:t>
            </a:r>
          </a:p>
          <a:p>
            <a:r>
              <a:rPr lang="hu-HU" dirty="0">
                <a:solidFill>
                  <a:schemeClr val="bg1"/>
                </a:solidFill>
              </a:rPr>
              <a:t>Globálisan elérhető</a:t>
            </a:r>
          </a:p>
          <a:p>
            <a:r>
              <a:rPr lang="hu-HU" dirty="0">
                <a:solidFill>
                  <a:schemeClr val="bg1"/>
                </a:solidFill>
              </a:rPr>
              <a:t>32 bájtos azonosító</a:t>
            </a:r>
          </a:p>
          <a:p>
            <a:r>
              <a:rPr lang="hu-HU" dirty="0">
                <a:solidFill>
                  <a:schemeClr val="bg1"/>
                </a:solidFill>
              </a:rPr>
              <a:t>1 hétig érvényes</a:t>
            </a:r>
          </a:p>
          <a:p>
            <a:r>
              <a:rPr lang="hu-HU" dirty="0">
                <a:solidFill>
                  <a:schemeClr val="bg1"/>
                </a:solidFill>
              </a:rPr>
              <a:t>Automatikus feltakarítás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40C1301-DFFF-9987-DAAF-22CDC6EE3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077" y="4635056"/>
            <a:ext cx="4629796" cy="1467055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8D8CDE9C-36D6-58A8-D59D-186C5432A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919" y="1929575"/>
            <a:ext cx="4505954" cy="2276793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78AC5A6C-2201-9433-362B-3DB59C978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975" y="4902908"/>
            <a:ext cx="4467646" cy="75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31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EFBF-DAFA-C43D-66D1-B73E193C2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31FF4E-3BEF-0D16-FE7F-730C82862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Architektúra - hibakezelés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9D828E9-835A-98B8-701E-028915E41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Minden nézetben egységes</a:t>
            </a:r>
          </a:p>
          <a:p>
            <a:r>
              <a:rPr lang="hu-HU" dirty="0">
                <a:solidFill>
                  <a:schemeClr val="bg1"/>
                </a:solidFill>
              </a:rPr>
              <a:t>Nem kell minden adatot újból megadni</a:t>
            </a:r>
          </a:p>
          <a:p>
            <a:r>
              <a:rPr lang="hu-HU" dirty="0">
                <a:solidFill>
                  <a:schemeClr val="bg1"/>
                </a:solidFill>
              </a:rPr>
              <a:t>Végzetes hibák esetén 500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7890A21-659E-5555-36EC-6A289CE37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786" y="1690688"/>
            <a:ext cx="4151263" cy="2142587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3601B5B0-9896-2B4A-B4DB-3213DDA88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131" y="5349715"/>
            <a:ext cx="3362794" cy="1143160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FEB660EA-0528-F192-223C-B92271ACE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763" y="4245406"/>
            <a:ext cx="3000794" cy="638264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0CC14A54-35F7-2333-F289-636D499CCB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443" y="4245406"/>
            <a:ext cx="3045696" cy="1818653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A05E07CF-097E-CEFD-494B-4948FEA03D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2203" y="4568584"/>
            <a:ext cx="2465446" cy="78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965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53579-6B2A-74B5-E1F4-2CC40FE27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FD6602-D9B7-9959-9303-DF6D35070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Architektúra – CSS tömörítés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B5FFEA3-3003-46FD-3306-95C128A85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CSS fájlokba bontása</a:t>
            </a:r>
          </a:p>
          <a:p>
            <a:r>
              <a:rPr lang="hu-HU" dirty="0">
                <a:solidFill>
                  <a:schemeClr val="bg1"/>
                </a:solidFill>
              </a:rPr>
              <a:t>Python</a:t>
            </a:r>
          </a:p>
          <a:p>
            <a:r>
              <a:rPr lang="hu-HU" dirty="0">
                <a:solidFill>
                  <a:schemeClr val="bg1"/>
                </a:solidFill>
              </a:rPr>
              <a:t>W3C szabvány alapján</a:t>
            </a:r>
          </a:p>
          <a:p>
            <a:r>
              <a:rPr lang="hu-HU" dirty="0">
                <a:solidFill>
                  <a:schemeClr val="bg1"/>
                </a:solidFill>
              </a:rPr>
              <a:t>Felesleges karaktereket kiszedi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F81EE84-428B-3BDB-F5F7-D65E00A27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837" y="1690688"/>
            <a:ext cx="4020802" cy="2481896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3E7C5BF1-86B0-C250-F964-5B3AFDB26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72" y="4778968"/>
            <a:ext cx="1235180" cy="1794764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021AC123-4E84-6D10-ABF9-062D26FC6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831" y="4652391"/>
            <a:ext cx="4258269" cy="1752845"/>
          </a:xfrm>
          <a:prstGeom prst="rect">
            <a:avLst/>
          </a:prstGeom>
        </p:spPr>
      </p:pic>
      <p:sp>
        <p:nvSpPr>
          <p:cNvPr id="13" name="Nyíl: jobbra mutató 12">
            <a:extLst>
              <a:ext uri="{FF2B5EF4-FFF2-40B4-BE49-F238E27FC236}">
                <a16:creationId xmlns:a16="http://schemas.microsoft.com/office/drawing/2014/main" id="{54BFA3BF-B4C0-DD80-0AB9-66BF42591113}"/>
              </a:ext>
            </a:extLst>
          </p:cNvPr>
          <p:cNvSpPr/>
          <p:nvPr/>
        </p:nvSpPr>
        <p:spPr>
          <a:xfrm>
            <a:off x="4906347" y="5361761"/>
            <a:ext cx="1115568" cy="43891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783051CA-3046-0434-309D-0F8628C27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7691" y="5152523"/>
            <a:ext cx="2876951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62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956E7937-525B-C501-5968-50C95B631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16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526</Words>
  <Application>Microsoft Office PowerPoint</Application>
  <PresentationFormat>Szélesvásznú</PresentationFormat>
  <Paragraphs>163</Paragraphs>
  <Slides>26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Office-téma</vt:lpstr>
      <vt:lpstr>PowerPoint-bemutató</vt:lpstr>
      <vt:lpstr>Mi az Ecodrive?</vt:lpstr>
      <vt:lpstr>Deák Benedek  Saját feladatrészem: Frontend és UI/UX 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Széplaki Dániel Saját feladatrészem: Adatbázis, DevOps és tesztelés 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Szabó Zsigmond Károly Saját feladatrészem: Backend kialakítása </vt:lpstr>
      <vt:lpstr>Architektúra - kérelemkezelés</vt:lpstr>
      <vt:lpstr>Architektúra - kérelemkezelés</vt:lpstr>
      <vt:lpstr>Architektúra - nézetek</vt:lpstr>
      <vt:lpstr>Architektúra - adatmodell</vt:lpstr>
      <vt:lpstr>Architektúra - munkamenet</vt:lpstr>
      <vt:lpstr>Architektúra - hibakezelés</vt:lpstr>
      <vt:lpstr>Architektúra – CSS tömörítés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Benedek Deák</dc:creator>
  <cp:lastModifiedBy>Benedek Deák</cp:lastModifiedBy>
  <cp:revision>356</cp:revision>
  <dcterms:created xsi:type="dcterms:W3CDTF">2026-05-16T14:57:59Z</dcterms:created>
  <dcterms:modified xsi:type="dcterms:W3CDTF">2026-05-21T15:13:12Z</dcterms:modified>
</cp:coreProperties>
</file>